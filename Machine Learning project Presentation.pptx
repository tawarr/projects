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wana Makotsi" userId="25ce2250eceb71aa" providerId="LiveId" clId="{BCE48A3D-556E-4BD4-98A1-A6B73E5850F1}"/>
    <pc:docChg chg="custSel addSld modSld">
      <pc:chgData name="Tawana Makotsi" userId="25ce2250eceb71aa" providerId="LiveId" clId="{BCE48A3D-556E-4BD4-98A1-A6B73E5850F1}" dt="2026-04-27T19:07:31.706" v="49" actId="403"/>
      <pc:docMkLst>
        <pc:docMk/>
      </pc:docMkLst>
      <pc:sldChg chg="delSp modSp add mod">
        <pc:chgData name="Tawana Makotsi" userId="25ce2250eceb71aa" providerId="LiveId" clId="{BCE48A3D-556E-4BD4-98A1-A6B73E5850F1}" dt="2026-04-27T19:07:31.706" v="49" actId="403"/>
        <pc:sldMkLst>
          <pc:docMk/>
          <pc:sldMk cId="708611418" sldId="262"/>
        </pc:sldMkLst>
        <pc:spChg chg="mod">
          <ac:chgData name="Tawana Makotsi" userId="25ce2250eceb71aa" providerId="LiveId" clId="{BCE48A3D-556E-4BD4-98A1-A6B73E5850F1}" dt="2026-04-27T19:07:31.706" v="49" actId="403"/>
          <ac:spMkLst>
            <pc:docMk/>
            <pc:sldMk cId="708611418" sldId="262"/>
            <ac:spMk id="2" creationId="{AAFF3E22-33E7-FEF6-02E7-A7ED14933A2C}"/>
          </ac:spMkLst>
        </pc:spChg>
        <pc:spChg chg="del mod">
          <ac:chgData name="Tawana Makotsi" userId="25ce2250eceb71aa" providerId="LiveId" clId="{BCE48A3D-556E-4BD4-98A1-A6B73E5850F1}" dt="2026-04-27T19:06:55.707" v="2" actId="478"/>
          <ac:spMkLst>
            <pc:docMk/>
            <pc:sldMk cId="708611418" sldId="262"/>
            <ac:spMk id="3" creationId="{996F1C75-8206-B6E3-88BB-FD65E9EBBB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8" y="1600201"/>
            <a:ext cx="7772400" cy="162502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66CC"/>
                </a:solidFill>
              </a:rPr>
              <a:t>Employee Attrition Prediction</a:t>
            </a:r>
            <a:endParaRPr b="1" dirty="0">
              <a:solidFill>
                <a:srgbClr val="0066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032" y="3794760"/>
            <a:ext cx="6400800" cy="1752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Tawananyasha Makotsi</a:t>
            </a:r>
          </a:p>
          <a:p>
            <a:pPr algn="l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72512138</a:t>
            </a:r>
            <a:endParaRPr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D3062-7B18-69EA-B8CB-37986A6BCC31}"/>
              </a:ext>
            </a:extLst>
          </p:cNvPr>
          <p:cNvSpPr txBox="1"/>
          <p:nvPr/>
        </p:nvSpPr>
        <p:spPr>
          <a:xfrm>
            <a:off x="1476756" y="624839"/>
            <a:ext cx="55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Project</a:t>
            </a:r>
            <a:endParaRPr lang="en-I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766"/>
            <a:ext cx="8229600" cy="1023810"/>
          </a:xfrm>
        </p:spPr>
        <p:txBody>
          <a:bodyPr/>
          <a:lstStyle/>
          <a:p>
            <a:r>
              <a:rPr lang="en-US" sz="3600" b="1" dirty="0">
                <a:solidFill>
                  <a:srgbClr val="0066CC"/>
                </a:solidFill>
              </a:rPr>
              <a:t>Overview and Objectives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2416"/>
            <a:ext cx="8229600" cy="56598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Employee Attrition Prediction using Machine Learning</a:t>
            </a:r>
            <a:endParaRPr lang="en-US" sz="2000" dirty="0">
              <a:solidFill>
                <a:srgbClr val="323232"/>
              </a:solidFill>
            </a:endParaRPr>
          </a:p>
          <a:p>
            <a:r>
              <a:rPr lang="en-US" sz="2000" b="1" dirty="0"/>
              <a:t>Problem:</a:t>
            </a:r>
          </a:p>
          <a:p>
            <a:pPr lvl="1"/>
            <a:r>
              <a:rPr lang="en-US" sz="1800" b="1" dirty="0"/>
              <a:t>High Attrition Costs: </a:t>
            </a:r>
            <a:r>
              <a:rPr lang="en-US" sz="1800" dirty="0"/>
              <a:t>Employee turnover is expensive for companies.</a:t>
            </a:r>
          </a:p>
          <a:p>
            <a:pPr lvl="1"/>
            <a:r>
              <a:rPr lang="en-US" sz="1800" b="1" dirty="0"/>
              <a:t>Need for insights:</a:t>
            </a:r>
            <a:r>
              <a:rPr lang="en-US" sz="1800" dirty="0"/>
              <a:t> Understanding why and which employees are likely to leave allows HR to implement proactive measures to keep them.</a:t>
            </a:r>
            <a:endParaRPr lang="en-US" sz="1800" b="1" dirty="0"/>
          </a:p>
          <a:p>
            <a:r>
              <a:rPr lang="en-US" sz="2000" b="1" dirty="0"/>
              <a:t>The objective:</a:t>
            </a:r>
          </a:p>
          <a:p>
            <a:pPr lvl="1"/>
            <a:r>
              <a:rPr lang="en-US" sz="1800" b="1" dirty="0"/>
              <a:t>Predictive Modelling: </a:t>
            </a:r>
            <a:r>
              <a:rPr lang="en-US" sz="1800" dirty="0"/>
              <a:t>The project aims to build a model that identifies employees at risk of leaving.</a:t>
            </a:r>
          </a:p>
          <a:p>
            <a:pPr lvl="1"/>
            <a:r>
              <a:rPr lang="en-US" sz="1800" b="1" dirty="0"/>
              <a:t>Data-Driven: </a:t>
            </a:r>
            <a:r>
              <a:rPr lang="en-US" sz="1800" dirty="0"/>
              <a:t>Predictions are based on demographic, professional, and job satisfaction data.</a:t>
            </a:r>
            <a:endParaRPr lang="en-US" sz="1800" b="1" dirty="0"/>
          </a:p>
          <a:p>
            <a:r>
              <a:rPr lang="en-US" sz="2000" b="1" dirty="0"/>
              <a:t>Approach:</a:t>
            </a:r>
          </a:p>
          <a:p>
            <a:pPr lvl="1"/>
            <a:r>
              <a:rPr lang="en-US" sz="1800" b="1" dirty="0"/>
              <a:t>Algorithm: </a:t>
            </a:r>
            <a:r>
              <a:rPr lang="en-US" sz="1800" dirty="0"/>
              <a:t>The project uses a </a:t>
            </a:r>
            <a:r>
              <a:rPr lang="en-US" sz="1800" b="1" dirty="0"/>
              <a:t>Random Forest Classifier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/>
              <a:t>Mechanism: </a:t>
            </a:r>
            <a:r>
              <a:rPr lang="en-US" sz="1800" dirty="0"/>
              <a:t>It analyzes historical data to generate "Stay vs. Leave" binary classifications.</a:t>
            </a:r>
          </a:p>
          <a:p>
            <a:pPr lvl="1"/>
            <a:r>
              <a:rPr lang="en-US" sz="1800" b="1" dirty="0"/>
              <a:t>Technical details:</a:t>
            </a:r>
            <a:r>
              <a:rPr lang="en-US" sz="1800" dirty="0"/>
              <a:t> </a:t>
            </a:r>
          </a:p>
          <a:p>
            <a:pPr lvl="2"/>
            <a:r>
              <a:rPr lang="en-US" sz="1800" dirty="0"/>
              <a:t>The model is specifically designed for </a:t>
            </a:r>
            <a:r>
              <a:rPr lang="en-US" sz="1800" b="1" dirty="0"/>
              <a:t>classification</a:t>
            </a:r>
            <a:r>
              <a:rPr lang="en-US" sz="1800" dirty="0"/>
              <a:t> tasks.</a:t>
            </a:r>
          </a:p>
          <a:p>
            <a:pPr lvl="2"/>
            <a:r>
              <a:rPr lang="en-US" sz="1800" dirty="0"/>
              <a:t>It utilizes the </a:t>
            </a:r>
            <a:r>
              <a:rPr lang="en-US" sz="1800" dirty="0" err="1"/>
              <a:t>sklearn.ensemble</a:t>
            </a:r>
            <a:r>
              <a:rPr lang="en-US" sz="1800" dirty="0"/>
              <a:t> module for the implementation.</a:t>
            </a:r>
          </a:p>
          <a:p>
            <a:pPr lvl="2"/>
            <a:r>
              <a:rPr lang="en-US" sz="1800" dirty="0"/>
              <a:t>It predicts Attrition by focusing on categorical labels ("Yes" or "No") instead of numerical ranges</a:t>
            </a:r>
            <a:r>
              <a:rPr lang="en-US" sz="12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36258"/>
            <a:ext cx="9144000" cy="53949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92" y="420942"/>
            <a:ext cx="8229600" cy="89579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66CC"/>
                </a:solidFill>
              </a:rPr>
              <a:t>Data Exploration &amp; Features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Data Source:</a:t>
            </a:r>
            <a:r>
              <a:rPr lang="en-US" sz="2000" dirty="0"/>
              <a:t> The project utilizes a comprehensive employee dataset (e.g., employee_attrition_with_sample_data2.csv</a:t>
            </a:r>
          </a:p>
          <a:p>
            <a:r>
              <a:rPr lang="en-IN" sz="2000" b="1" dirty="0"/>
              <a:t>Key Features (Input Variables): </a:t>
            </a:r>
            <a:r>
              <a:rPr lang="en-US" sz="2000" dirty="0"/>
              <a:t>These are the categories used to find patterns:</a:t>
            </a:r>
            <a:endParaRPr lang="en-IN" sz="2000" b="1" dirty="0"/>
          </a:p>
          <a:p>
            <a:pPr lvl="1"/>
            <a:r>
              <a:rPr lang="en-IN" sz="1800" b="1" dirty="0"/>
              <a:t>Demographics:</a:t>
            </a:r>
            <a:r>
              <a:rPr lang="en-IN" sz="1800" dirty="0"/>
              <a:t> Age, Gender, Marital Status.</a:t>
            </a:r>
          </a:p>
          <a:p>
            <a:pPr lvl="1"/>
            <a:r>
              <a:rPr lang="en-US" sz="1800" b="1" dirty="0"/>
              <a:t>Professional Status:</a:t>
            </a:r>
            <a:r>
              <a:rPr lang="en-US" sz="1800" dirty="0"/>
              <a:t> Department, Job Role, Job Level, Percent Salary Hike, and Stock Option Level.</a:t>
            </a:r>
          </a:p>
          <a:p>
            <a:pPr lvl="1"/>
            <a:r>
              <a:rPr lang="en-IN" sz="1800" b="1" dirty="0"/>
              <a:t>Environment &amp; Sentiment:</a:t>
            </a:r>
            <a:r>
              <a:rPr lang="en-IN" sz="1800" dirty="0"/>
              <a:t> Job Satisfaction, Environment Satisfaction, Work-Life Balance, and Overtime.</a:t>
            </a:r>
          </a:p>
          <a:p>
            <a:r>
              <a:rPr lang="en-IN" sz="2000" b="1" dirty="0"/>
              <a:t>Target Variable: </a:t>
            </a:r>
            <a:r>
              <a:rPr lang="en-US" sz="2000" dirty="0"/>
              <a:t>Attrition (Yes/No), which indicates whether an employee has left the company.</a:t>
            </a:r>
            <a:endParaRPr lang="en-IN" sz="2000" dirty="0"/>
          </a:p>
          <a:p>
            <a:pPr marL="457200" lvl="1" indent="0">
              <a:buNone/>
            </a:pPr>
            <a:endParaRPr lang="en-IN"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2205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66CC"/>
                </a:solidFill>
              </a:rPr>
              <a:t>Data</a:t>
            </a:r>
            <a:r>
              <a:rPr lang="en-US" sz="3600" b="1" dirty="0">
                <a:solidFill>
                  <a:srgbClr val="0066CC"/>
                </a:solidFill>
              </a:rPr>
              <a:t> Preprocessing Workflow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Preparing Data for Machine Learning</a:t>
            </a:r>
          </a:p>
          <a:p>
            <a:r>
              <a:rPr lang="en-IN" sz="2000" b="1" dirty="0"/>
              <a:t>Categorical Encoding</a:t>
            </a:r>
            <a:r>
              <a:rPr lang="en-IN" sz="2000" dirty="0"/>
              <a:t>: </a:t>
            </a:r>
            <a:r>
              <a:rPr lang="en-US" sz="2000" dirty="0"/>
              <a:t>Since machine learning models require numerical input, Label Encoding was applied to transform text-based columns into integers.</a:t>
            </a:r>
          </a:p>
          <a:p>
            <a:r>
              <a:rPr lang="en-US" altLang="en-US" sz="2000" b="1" dirty="0">
                <a:latin typeface="Google Sans Text"/>
              </a:rPr>
              <a:t>Feature-Target Split:</a:t>
            </a:r>
            <a:r>
              <a:rPr lang="en-US" altLang="en-US" sz="2000" dirty="0"/>
              <a:t> The data was separated into ‘</a:t>
            </a:r>
            <a:r>
              <a:rPr lang="en-US" altLang="en-US" sz="2000" dirty="0">
                <a:latin typeface="Google Sans Text"/>
              </a:rPr>
              <a:t>x’</a:t>
            </a:r>
            <a:r>
              <a:rPr lang="en-US" altLang="en-US" sz="2000" dirty="0"/>
              <a:t> (independent features) and ‘</a:t>
            </a:r>
            <a:r>
              <a:rPr lang="en-US" altLang="en-US" sz="2000" dirty="0">
                <a:latin typeface="Google Sans Text"/>
              </a:rPr>
              <a:t>y’</a:t>
            </a:r>
            <a:r>
              <a:rPr lang="en-US" altLang="en-US" sz="2000" dirty="0"/>
              <a:t> (the Attrition label).</a:t>
            </a:r>
          </a:p>
          <a:p>
            <a:r>
              <a:rPr lang="en-US" sz="2000" b="1" dirty="0"/>
              <a:t>Data Partitioning:</a:t>
            </a:r>
            <a:r>
              <a:rPr lang="en-US" sz="2000" dirty="0"/>
              <a:t> The dataset was split using </a:t>
            </a:r>
            <a:r>
              <a:rPr lang="en-US" sz="2000" dirty="0" err="1"/>
              <a:t>train_test_split</a:t>
            </a:r>
            <a:r>
              <a:rPr lang="en-US" sz="2000" dirty="0"/>
              <a:t> with an 80/20 ratio:</a:t>
            </a:r>
          </a:p>
          <a:p>
            <a:pPr lvl="1"/>
            <a:r>
              <a:rPr lang="en-US" sz="1800" b="1" dirty="0"/>
              <a:t>Training Set (80%):</a:t>
            </a:r>
            <a:r>
              <a:rPr lang="en-US" sz="1800" dirty="0"/>
              <a:t> Used to teach the model patterns</a:t>
            </a:r>
          </a:p>
          <a:p>
            <a:pPr lvl="1"/>
            <a:r>
              <a:rPr lang="en-US" sz="1800" b="1" dirty="0"/>
              <a:t>Testing Set (20%):</a:t>
            </a:r>
            <a:r>
              <a:rPr lang="en-US" sz="1800" dirty="0"/>
              <a:t> Used to evaluate how well the model performs on unseen data.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6928"/>
            <a:ext cx="8229600" cy="64008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66CC"/>
                </a:solidFill>
              </a:rPr>
              <a:t>The Model: Random Forest Classifier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02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Modeling with Ensemble Learning</a:t>
            </a:r>
          </a:p>
          <a:p>
            <a:r>
              <a:rPr lang="en-US" sz="2000" b="1" dirty="0"/>
              <a:t>How it Works:</a:t>
            </a:r>
            <a:r>
              <a:rPr lang="en-US" sz="2000" dirty="0"/>
              <a:t> A Random Forest is an "ensemble" method that constructs a multitude of </a:t>
            </a:r>
            <a:r>
              <a:rPr lang="en-US" sz="2000" b="1" dirty="0"/>
              <a:t>Decision Trees</a:t>
            </a:r>
            <a:r>
              <a:rPr lang="en-US" sz="2000" dirty="0"/>
              <a:t> during training. It merges their results to get a more accurate and stable prediction</a:t>
            </a:r>
          </a:p>
          <a:p>
            <a:r>
              <a:rPr lang="en-US" sz="2000" b="1" dirty="0"/>
              <a:t>Key Parameter: </a:t>
            </a:r>
            <a:r>
              <a:rPr lang="en-US" sz="2000" dirty="0"/>
              <a:t>The model was configured with </a:t>
            </a:r>
            <a:r>
              <a:rPr lang="en-US" sz="2000" dirty="0" err="1"/>
              <a:t>n_estimators</a:t>
            </a:r>
            <a:r>
              <a:rPr lang="en-US" sz="2000" dirty="0"/>
              <a:t>=100, meaning it built 100 individual trees to vote on the final outcome.</a:t>
            </a:r>
          </a:p>
          <a:p>
            <a:r>
              <a:rPr lang="en-US" sz="2000" b="1" dirty="0"/>
              <a:t>Why Random Forest?</a:t>
            </a:r>
          </a:p>
          <a:p>
            <a:pPr lvl="1"/>
            <a:r>
              <a:rPr lang="en-US" sz="1800" b="1" dirty="0"/>
              <a:t>Versatility:</a:t>
            </a:r>
            <a:r>
              <a:rPr lang="en-US" sz="1800" dirty="0"/>
              <a:t> Handles both categorical and numerical data well</a:t>
            </a:r>
          </a:p>
          <a:p>
            <a:pPr lvl="1"/>
            <a:r>
              <a:rPr lang="en-IN" sz="1800" b="1" dirty="0"/>
              <a:t>Robustness</a:t>
            </a:r>
            <a:r>
              <a:rPr lang="en-IN" sz="1800" dirty="0"/>
              <a:t>: </a:t>
            </a:r>
            <a:r>
              <a:rPr lang="en-US" sz="1800" dirty="0"/>
              <a:t>Reduces the risk of </a:t>
            </a:r>
            <a:r>
              <a:rPr lang="en-US" sz="1800" b="1" dirty="0"/>
              <a:t>overfitting</a:t>
            </a:r>
            <a:r>
              <a:rPr lang="en-US" sz="1800" dirty="0"/>
              <a:t> compared to a single decision tree.</a:t>
            </a:r>
          </a:p>
          <a:p>
            <a:pPr lvl="2"/>
            <a:r>
              <a:rPr lang="en-US" sz="1800" dirty="0"/>
              <a:t>Overfitting is a common problem where a single decision tree becomes too complex and fails to generalize to new data.</a:t>
            </a:r>
          </a:p>
          <a:p>
            <a:pPr lvl="1"/>
            <a:r>
              <a:rPr lang="en-US" sz="1800" b="1" dirty="0"/>
              <a:t>Insight:</a:t>
            </a:r>
            <a:r>
              <a:rPr lang="en-US" sz="1800" dirty="0"/>
              <a:t> Implicitly performs feature selection by identifying which variables are most important in predicting whether someone stays or leaves.</a:t>
            </a:r>
            <a:endParaRPr lang="en-US" sz="1800" b="1" dirty="0"/>
          </a:p>
          <a:p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9144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D1E9-8F41-341F-1620-14433C59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C5C6-A4FF-FCD3-5997-2A887108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8229600" cy="640080"/>
          </a:xfrm>
        </p:spPr>
        <p:txBody>
          <a:bodyPr/>
          <a:lstStyle/>
          <a:p>
            <a:r>
              <a:rPr lang="en-US" sz="3600" b="1" dirty="0">
                <a:solidFill>
                  <a:srgbClr val="0066CC"/>
                </a:solidFill>
              </a:rPr>
              <a:t>Evaluation and Performance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23A1-BEAA-0107-F695-7E68E33F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23232"/>
                </a:solidFill>
              </a:rPr>
              <a:t>Title: Results and Model Accuracy</a:t>
            </a:r>
          </a:p>
          <a:p>
            <a:r>
              <a:rPr lang="en-US" sz="2000" b="1" dirty="0">
                <a:solidFill>
                  <a:srgbClr val="323232"/>
                </a:solidFill>
              </a:rPr>
              <a:t>Evaluation Metrics: </a:t>
            </a:r>
            <a:r>
              <a:rPr lang="en-US" sz="2000" dirty="0"/>
              <a:t>The model's performance was assessed using a Classification Report, focusing on:</a:t>
            </a:r>
          </a:p>
          <a:p>
            <a:pPr lvl="1"/>
            <a:r>
              <a:rPr lang="en-US" sz="1800" b="1" dirty="0"/>
              <a:t>Precision:</a:t>
            </a:r>
            <a:r>
              <a:rPr lang="en-US" sz="1800" dirty="0"/>
              <a:t> How many of the predicted "Yes" cases were actually correct?</a:t>
            </a:r>
          </a:p>
          <a:p>
            <a:pPr lvl="1"/>
            <a:r>
              <a:rPr lang="en-US" sz="1800" b="1" dirty="0"/>
              <a:t>Recall:</a:t>
            </a:r>
            <a:r>
              <a:rPr lang="en-US" sz="1800" dirty="0"/>
              <a:t> How many actual "Yes" cases did the model catch?</a:t>
            </a:r>
          </a:p>
          <a:p>
            <a:pPr lvl="1"/>
            <a:r>
              <a:rPr lang="en-US" sz="1800" b="1" dirty="0"/>
              <a:t>F1-Score:</a:t>
            </a:r>
            <a:r>
              <a:rPr lang="en-US" sz="1800" dirty="0"/>
              <a:t> The balance between Precision and Recall.</a:t>
            </a:r>
          </a:p>
          <a:p>
            <a:r>
              <a:rPr lang="en-US" sz="2000" b="1" dirty="0"/>
              <a:t>Project Outcome: </a:t>
            </a:r>
            <a:r>
              <a:rPr lang="en-US" sz="2000" dirty="0"/>
              <a:t>The initial test run showed a high accuracy (1.00 on the test sample), suggesting the model effectively learned the distinguishing characteristics of employees prone to attrition within this specific dataset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To improve the project further, the next steps include:</a:t>
            </a:r>
          </a:p>
          <a:p>
            <a:pPr lvl="1"/>
            <a:r>
              <a:rPr lang="en-US" sz="1800" b="1" dirty="0"/>
              <a:t>Hyperparameter tuning: </a:t>
            </a:r>
            <a:r>
              <a:rPr lang="en-US" sz="1800" dirty="0"/>
              <a:t>Optimizing the internal settings of the model for even better results.</a:t>
            </a:r>
          </a:p>
          <a:p>
            <a:pPr lvl="1"/>
            <a:r>
              <a:rPr lang="en-US" sz="1800" b="1" dirty="0"/>
              <a:t>Feature importance analysis: </a:t>
            </a:r>
            <a:r>
              <a:rPr lang="en-US" sz="1800" dirty="0"/>
              <a:t>Providing HR with concrete data on which specific factors, such as overtime or salary hike, are the strongest drivers of attrition.</a:t>
            </a: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D8F364-5EE5-43CC-034E-42FD276C5C1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3372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705C-B61C-55A5-631B-890BB16C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3E22-33E7-FEF6-02E7-A7ED1493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" y="1408176"/>
            <a:ext cx="8229600" cy="3566160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rgbClr val="0066CC"/>
                </a:solidFill>
              </a:rPr>
              <a:t>THANK YOU!</a:t>
            </a:r>
            <a:endParaRPr sz="9600" b="1" dirty="0">
              <a:solidFill>
                <a:srgbClr val="0066CC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81D534-6387-B24E-69C3-7D63FC743FBF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08611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676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Google Sans Text</vt:lpstr>
      <vt:lpstr>Office Theme</vt:lpstr>
      <vt:lpstr>Employee Attrition Prediction</vt:lpstr>
      <vt:lpstr>Overview and Objectives</vt:lpstr>
      <vt:lpstr>Data Exploration &amp; Features</vt:lpstr>
      <vt:lpstr>Data Preprocessing Workflow</vt:lpstr>
      <vt:lpstr>The Model: Random Forest Classifier</vt:lpstr>
      <vt:lpstr>Evaluation and Performance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Tawana Makotsi</cp:lastModifiedBy>
  <cp:revision>3</cp:revision>
  <dcterms:created xsi:type="dcterms:W3CDTF">2013-01-27T09:14:16Z</dcterms:created>
  <dcterms:modified xsi:type="dcterms:W3CDTF">2026-04-27T19:07:32Z</dcterms:modified>
  <cp:category/>
</cp:coreProperties>
</file>